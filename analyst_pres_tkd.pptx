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AFC555-025D-4C27-81D4-F2106555A389}" v="74" dt="2025-10-27T22:03:55.020"/>
    <p1510:client id="{9F769501-2573-4A1B-9672-9E5DF4ECE75C}" v="1373" dt="2025-10-28T00:19:34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3757 10064 16383 0 0,'30619'-114'0'0'0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5715 10035 16383 0 0,'0'-688'0'0'0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26670 9986 16383 0 0,'0'-734'0'0'0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32173 16616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31446 16034 16383 0 0,'-1670'1063'0'0'0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714 6985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5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32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581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7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21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2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0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0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01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06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4.xml"/><Relationship Id="rId1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9A8C2DC4-904F-E443-41DE-32F3EB0557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b="90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ru-RU">
                <a:solidFill>
                  <a:srgbClr val="FFFFFF"/>
                </a:solidFill>
              </a:rPr>
              <a:t>Catch The Spies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lang="ru-RU" sz="700">
                <a:solidFill>
                  <a:srgbClr val="FFFFFF"/>
                </a:solidFill>
              </a:rPr>
              <a:t>Analyst Presentation</a:t>
            </a:r>
          </a:p>
          <a:p>
            <a:pPr algn="r">
              <a:lnSpc>
                <a:spcPct val="120000"/>
              </a:lnSpc>
            </a:pPr>
            <a:r>
              <a:rPr lang="ru-RU" sz="700">
                <a:solidFill>
                  <a:srgbClr val="FFFFFF"/>
                </a:solidFill>
              </a:rPr>
              <a:t>Б23-503</a:t>
            </a:r>
          </a:p>
          <a:p>
            <a:pPr algn="r">
              <a:lnSpc>
                <a:spcPct val="120000"/>
              </a:lnSpc>
            </a:pPr>
            <a:r>
              <a:rPr lang="ru-RU" sz="700">
                <a:solidFill>
                  <a:srgbClr val="FFFFFF"/>
                </a:solidFill>
              </a:rPr>
              <a:t>Тишин, Курицын, Данченко</a:t>
            </a:r>
          </a:p>
        </p:txBody>
      </p: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FBDA7C-0A2B-4FAD-F9C9-219DCC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400"/>
              <a:t>Объединение баз данных (после этапа парсинга)</a:t>
            </a: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E9D785-9F89-1BBB-FDDE-F28E99FBC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Составление единого профиля пассажира</a:t>
            </a:r>
          </a:p>
          <a:p>
            <a:r>
              <a:rPr lang="ru-RU"/>
              <a:t>Постепенное заполнение профиля информацией из каждой базы данных</a:t>
            </a:r>
          </a:p>
          <a:p>
            <a:r>
              <a:rPr lang="ru-RU"/>
              <a:t>Профиль пассажира - структура словарь, где:</a:t>
            </a:r>
            <a:endParaRPr lang="ru-RU" dirty="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ru-RU" dirty="0"/>
              <a:t>Ключ: ФИО, документы, дата рождения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ru-RU" dirty="0"/>
              <a:t>Значение: Дополнительная информация о пассажире (программы лояльности, история полётов и т.д.)</a:t>
            </a:r>
          </a:p>
        </p:txBody>
      </p:sp>
      <p:pic>
        <p:nvPicPr>
          <p:cNvPr id="4" name="Рисунок 3" descr="La data pour tous : plaidoyer pour une démocratisation de la donnée">
            <a:extLst>
              <a:ext uri="{FF2B5EF4-FFF2-40B4-BE49-F238E27FC236}">
                <a16:creationId xmlns:a16="http://schemas.microsoft.com/office/drawing/2014/main" id="{A09B5F4E-854E-D4E6-AF6F-54DDC18A9A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37" r="31292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83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26B04-EDA6-1F66-0EDC-CBAAF645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ru-RU" sz="3700"/>
              <a:t>Обработка сырых данных</a:t>
            </a:r>
          </a:p>
        </p:txBody>
      </p:sp>
      <p:pic>
        <p:nvPicPr>
          <p:cNvPr id="4" name="Рисунок 3" descr="1,900+ Coal Miner Dirty Stock Photos, Pictures &amp; Royalty-Free Images -  iStock">
            <a:extLst>
              <a:ext uri="{FF2B5EF4-FFF2-40B4-BE49-F238E27FC236}">
                <a16:creationId xmlns:a16="http://schemas.microsoft.com/office/drawing/2014/main" id="{A0C3D22F-9EF4-5B2B-6EAA-FBB6AB238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5" r="5846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1DF329-FA80-26C7-8B32-EE888E582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Транслитерация (приведение данных к единому языку)</a:t>
            </a:r>
          </a:p>
          <a:p>
            <a:r>
              <a:rPr lang="ru-RU" dirty="0"/>
              <a:t>Нормализация документов и имён, приведение к общему регистру, избавление от лишних символов (приведение данных к общему формату)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1265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6BD704-01C2-4341-B99A-116CC7EC5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Three Enablers for Machine Learning in Data Unification | Tamr">
            <a:extLst>
              <a:ext uri="{FF2B5EF4-FFF2-40B4-BE49-F238E27FC236}">
                <a16:creationId xmlns:a16="http://schemas.microsoft.com/office/drawing/2014/main" id="{294D1230-E148-0EFB-498D-784A12551D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6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5C01B-A296-4FAA-AA46-794F27DF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894" y="979075"/>
            <a:ext cx="5777024" cy="5074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04CB6-F846-1B5E-D639-18FFFAF6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51" y="1352492"/>
            <a:ext cx="4665540" cy="11430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500"/>
              <a:t>Объединение множественных записей (дубликатов)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713E66-598D-4B8A-9D2A-67C7AF46E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5673" y="979075"/>
            <a:ext cx="0" cy="507492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A6078B-8956-59BC-F061-057606E20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4" y="2662356"/>
            <a:ext cx="4665546" cy="305791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ru-RU" dirty="0">
                <a:ea typeface="+mn-lt"/>
                <a:cs typeface="+mn-lt"/>
              </a:rPr>
              <a:t>Слияние </a:t>
            </a:r>
            <a:r>
              <a:rPr lang="ru-RU" err="1">
                <a:ea typeface="+mn-lt"/>
                <a:cs typeface="+mn-lt"/>
              </a:rPr>
              <a:t>boarding_data</a:t>
            </a:r>
            <a:r>
              <a:rPr lang="ru-RU" dirty="0">
                <a:ea typeface="+mn-lt"/>
                <a:cs typeface="+mn-lt"/>
              </a:rPr>
              <a:t> и </a:t>
            </a:r>
            <a:r>
              <a:rPr lang="ru-RU" err="1">
                <a:ea typeface="+mn-lt"/>
                <a:cs typeface="+mn-lt"/>
              </a:rPr>
              <a:t>boarding_pass</a:t>
            </a:r>
            <a:r>
              <a:rPr lang="ru-RU" dirty="0">
                <a:ea typeface="+mn-lt"/>
                <a:cs typeface="+mn-lt"/>
              </a:rPr>
              <a:t> профилей по общему ФИО</a:t>
            </a:r>
            <a:endParaRPr lang="ru-RU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r>
              <a:rPr lang="ru-RU" dirty="0"/>
              <a:t>Стратегии объединения:</a:t>
            </a: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ru-RU" dirty="0"/>
              <a:t>По общим документам</a:t>
            </a:r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ru-RU" dirty="0"/>
              <a:t>По программам лояльности </a:t>
            </a:r>
            <a:endParaRPr lang="ru-RU"/>
          </a:p>
          <a:p>
            <a:pPr marL="493395"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ru-RU" dirty="0"/>
              <a:t>По ФИО и дате рождения (наличие полного имени необязательно)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36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B1688-E59A-F62F-3858-281932232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ru-RU" dirty="0"/>
              <a:t>Результат слива</a:t>
            </a:r>
          </a:p>
        </p:txBody>
      </p:sp>
      <p:pic>
        <p:nvPicPr>
          <p:cNvPr id="4" name="Рисунок 3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69C83F-D1DE-3A3E-46CC-1801DC2AB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53325"/>
            <a:ext cx="5648193" cy="1566383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A4152A1-E2C2-4943-95AB-F62F2EC64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259202 профиля </a:t>
            </a:r>
          </a:p>
          <a:p>
            <a:r>
              <a:rPr lang="ru-RU"/>
              <a:t>16 признаков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50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3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6" name="Rectangle 3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Объект 4" descr="The original image of the Monkey Thinking meme : r/TheMatpatEffect">
            <a:extLst>
              <a:ext uri="{FF2B5EF4-FFF2-40B4-BE49-F238E27FC236}">
                <a16:creationId xmlns:a16="http://schemas.microsoft.com/office/drawing/2014/main" id="{CD19A3F7-8634-2FCD-A8E6-32387F52E8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726" r="9091" b="14379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864CC-C73E-6B4F-C6C6-5CB4C43A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85233"/>
            <a:ext cx="5758628" cy="335585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Анализ и построение гипотез выявления подозрительных пассажиров</a:t>
            </a:r>
          </a:p>
        </p:txBody>
      </p:sp>
      <p:cxnSp>
        <p:nvCxnSpPr>
          <p:cNvPr id="47" name="Straight Connector 37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000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6EB2FD-C259-3F10-C206-1E1CD1FAD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4895273"/>
            <a:ext cx="3550790" cy="1476533"/>
          </a:xfrm>
        </p:spPr>
        <p:txBody>
          <a:bodyPr anchor="ctr">
            <a:normAutofit/>
          </a:bodyPr>
          <a:lstStyle/>
          <a:p>
            <a:pPr marL="742950" indent="-742950">
              <a:buAutoNum type="arabicPeriod"/>
            </a:pPr>
            <a:r>
              <a:rPr lang="ru-RU" sz="3600"/>
              <a:t>Скользкий Джимми</a:t>
            </a:r>
          </a:p>
        </p:txBody>
      </p:sp>
      <p:pic>
        <p:nvPicPr>
          <p:cNvPr id="4" name="Рисунок 3" descr="Изображение выглядит как текст, снимок экрана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E520D7-2BBB-A340-94A8-265937A3D3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9" r="13463" b="-2"/>
          <a:stretch>
            <a:fillRect/>
          </a:stretch>
        </p:blipFill>
        <p:spPr>
          <a:xfrm>
            <a:off x="660991" y="10"/>
            <a:ext cx="10870017" cy="465155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60992" y="4651571"/>
            <a:ext cx="10869326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544BAB-AD26-0C8F-DC67-547554CC1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777" y="4895270"/>
            <a:ext cx="6658234" cy="14765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/>
              <a:t>Пассажиры, имеющие близкие по времени перелёты из разных точек мира - подозрительно! </a:t>
            </a:r>
          </a:p>
        </p:txBody>
      </p:sp>
    </p:spTree>
    <p:extLst>
      <p:ext uri="{BB962C8B-B14F-4D97-AF65-F5344CB8AC3E}">
        <p14:creationId xmlns:p14="http://schemas.microsoft.com/office/powerpoint/2010/main" val="384088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BAA5D-8CA0-0172-F228-51058E888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2. </a:t>
            </a:r>
            <a:r>
              <a:rPr lang="en-US" sz="3700" dirty="0" err="1"/>
              <a:t>Старикам</a:t>
            </a:r>
            <a:r>
              <a:rPr lang="en-US" sz="3700" dirty="0"/>
              <a:t> </a:t>
            </a:r>
            <a:r>
              <a:rPr lang="en-US" sz="3700" dirty="0" err="1"/>
              <a:t>тут</a:t>
            </a:r>
            <a:r>
              <a:rPr lang="en-US" sz="3700" dirty="0"/>
              <a:t> </a:t>
            </a:r>
            <a:r>
              <a:rPr lang="en-US" sz="3700" dirty="0" err="1"/>
              <a:t>не</a:t>
            </a:r>
            <a:r>
              <a:rPr lang="en-US" sz="3700" dirty="0"/>
              <a:t> </a:t>
            </a:r>
            <a:r>
              <a:rPr lang="en-US" sz="3700" dirty="0" err="1"/>
              <a:t>место</a:t>
            </a:r>
            <a:r>
              <a:rPr lang="en-US" sz="3700" dirty="0"/>
              <a:t> (и </a:t>
            </a:r>
            <a:r>
              <a:rPr lang="en-US" sz="3700" dirty="0" err="1"/>
              <a:t>малолеткам</a:t>
            </a:r>
            <a:r>
              <a:rPr lang="en-US" sz="3700" dirty="0"/>
              <a:t> </a:t>
            </a:r>
            <a:r>
              <a:rPr lang="en-US" sz="3700" dirty="0" err="1"/>
              <a:t>тоже</a:t>
            </a:r>
            <a:r>
              <a:rPr lang="en-US" sz="37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E75724-8685-739A-A487-412C49E05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4846904"/>
            <a:ext cx="3145535" cy="993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100" b="1" cap="all" spc="300"/>
              <a:t>Большое количество перелётов в слишком молодом или преклонном возрасте - подозрительно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текст, снимок экрана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FB2A91-B35F-C4C2-8BB0-F301F0C31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631" y="966978"/>
            <a:ext cx="6169306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0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4CAE8-48AB-EE29-6960-447BAA8E9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1083" y="1409700"/>
            <a:ext cx="4167042" cy="287586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*Невнятное пьяное бормотание об антикапе и социализме* 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09EFD5-56D3-C36D-5BA4-A505A3555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9191" y="4431107"/>
            <a:ext cx="3972865" cy="13444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/>
              <a:t>Стоит проверить доход у состоятельных пассажиров</a:t>
            </a:r>
          </a:p>
        </p:txBody>
      </p: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E34F76-5E3C-6F2A-A744-513730D1E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" b="1"/>
          <a:stretch>
            <a:fillRect/>
          </a:stretch>
        </p:blipFill>
        <p:spPr>
          <a:xfrm>
            <a:off x="20" y="609600"/>
            <a:ext cx="6778327" cy="568832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248400"/>
            <a:ext cx="6778350" cy="490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948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B93D2A6-54B8-D33B-2028-64CF21238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959" y="634848"/>
            <a:ext cx="6703643" cy="53377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FD696F-CF67-C720-E8F9-F5BB6BCE74C8}"/>
              </a:ext>
            </a:extLst>
          </p:cNvPr>
          <p:cNvSpPr txBox="1"/>
          <p:nvPr/>
        </p:nvSpPr>
        <p:spPr>
          <a:xfrm>
            <a:off x="657616" y="1534438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46B4F-9A29-1543-38B5-79CCF65211CC}"/>
              </a:ext>
            </a:extLst>
          </p:cNvPr>
          <p:cNvSpPr txBox="1"/>
          <p:nvPr/>
        </p:nvSpPr>
        <p:spPr>
          <a:xfrm>
            <a:off x="657616" y="1534438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6991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0E4C8-A577-8CD1-240D-0E340216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5. Папа вышел за хлебом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8A9B6B-BBBB-8EB3-2612-F9C564ADB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4304538"/>
            <a:ext cx="3156857" cy="1362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 cap="all" spc="300"/>
              <a:t>Пассажиры, не прилетающие обратно в места, из которых улетали (и наоборот) - подозрительно!</a:t>
            </a:r>
          </a:p>
        </p:txBody>
      </p:sp>
      <p:cxnSp>
        <p:nvCxnSpPr>
          <p:cNvPr id="21" name="Straight Connector 12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текст, снимок экрана, График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C0D08D-6149-6A81-7A94-C25D1F8BB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18" y="1098734"/>
            <a:ext cx="5967334" cy="47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46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4155B1-0AA4-12BB-B6DF-2D53C8FB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17" y="1048012"/>
            <a:ext cx="10890929" cy="1097280"/>
          </a:xfrm>
        </p:spPr>
        <p:txBody>
          <a:bodyPr/>
          <a:lstStyle/>
          <a:p>
            <a:r>
              <a:rPr lang="ru-RU" dirty="0"/>
              <a:t>Извлечённые признаки</a:t>
            </a:r>
          </a:p>
        </p:txBody>
      </p:sp>
      <p:pic>
        <p:nvPicPr>
          <p:cNvPr id="4" name="Объект 3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F40E3C-A353-B75B-3D32-E2FCF29A3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38" y="2861740"/>
            <a:ext cx="11913886" cy="31722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Рукописный ввод 5">
                <a:extLst>
                  <a:ext uri="{FF2B5EF4-FFF2-40B4-BE49-F238E27FC236}">
                    <a16:creationId xmlns:a16="http://schemas.microsoft.com/office/drawing/2014/main" id="{21AEDBDC-571C-6743-6C41-A0FF8C32D447}"/>
                  </a:ext>
                </a:extLst>
              </p14:cNvPr>
              <p14:cNvContentPartPr/>
              <p14:nvPr/>
            </p14:nvContentPartPr>
            <p14:xfrm>
              <a:off x="876822" y="3361787"/>
              <a:ext cx="11022970" cy="41116"/>
            </p14:xfrm>
          </p:contentPart>
        </mc:Choice>
        <mc:Fallback>
          <p:pic>
            <p:nvPicPr>
              <p:cNvPr id="6" name="Рукописный ввод 5">
                <a:extLst>
                  <a:ext uri="{FF2B5EF4-FFF2-40B4-BE49-F238E27FC236}">
                    <a16:creationId xmlns:a16="http://schemas.microsoft.com/office/drawing/2014/main" id="{21AEDBDC-571C-6743-6C41-A0FF8C32D4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8822" y="3344268"/>
                <a:ext cx="11058609" cy="76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68C48916-85CA-5FE5-0495-EA9D829D1057}"/>
                  </a:ext>
                </a:extLst>
              </p14:cNvPr>
              <p14:cNvContentPartPr/>
              <p14:nvPr/>
            </p14:nvContentPartPr>
            <p14:xfrm>
              <a:off x="1649260" y="3124108"/>
              <a:ext cx="10438" cy="24748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68C48916-85CA-5FE5-0495-EA9D829D10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7360" y="3106123"/>
                <a:ext cx="1043800" cy="2830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EFB78610-34F1-0CCF-F690-7D06CDCC3019}"/>
                  </a:ext>
                </a:extLst>
              </p14:cNvPr>
              <p14:cNvContentPartPr/>
              <p14:nvPr/>
            </p14:nvContentPartPr>
            <p14:xfrm>
              <a:off x="9916438" y="3086346"/>
              <a:ext cx="10438" cy="264365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EFB78610-34F1-0CCF-F690-7D06CDCC30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94538" y="3068722"/>
                <a:ext cx="1043800" cy="299973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Правая фигурная скобка 11">
            <a:extLst>
              <a:ext uri="{FF2B5EF4-FFF2-40B4-BE49-F238E27FC236}">
                <a16:creationId xmlns:a16="http://schemas.microsoft.com/office/drawing/2014/main" id="{7846B1F1-D88F-71BC-C930-F9BB4C919B3A}"/>
              </a:ext>
            </a:extLst>
          </p:cNvPr>
          <p:cNvSpPr/>
          <p:nvPr/>
        </p:nvSpPr>
        <p:spPr>
          <a:xfrm rot="16200000">
            <a:off x="5407069" y="-1482245"/>
            <a:ext cx="698241" cy="8367384"/>
          </a:xfrm>
          <a:prstGeom prst="righ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0678A2-658A-0909-28BB-53921573F736}"/>
              </a:ext>
            </a:extLst>
          </p:cNvPr>
          <p:cNvSpPr txBox="1"/>
          <p:nvPr/>
        </p:nvSpPr>
        <p:spPr>
          <a:xfrm>
            <a:off x="3382027" y="1972849"/>
            <a:ext cx="47473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Перевод строковых признаков в численные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32A677DA-88E4-F331-3BA8-95CCCFC0865C}"/>
              </a:ext>
            </a:extLst>
          </p:cNvPr>
          <p:cNvSpPr/>
          <p:nvPr/>
        </p:nvSpPr>
        <p:spPr>
          <a:xfrm>
            <a:off x="9926877" y="4613752"/>
            <a:ext cx="970766" cy="1294355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CE0582-DE55-A865-488C-1A598B7F2316}"/>
              </a:ext>
            </a:extLst>
          </p:cNvPr>
          <p:cNvSpPr txBox="1"/>
          <p:nvPr/>
        </p:nvSpPr>
        <p:spPr>
          <a:xfrm>
            <a:off x="6993697" y="6158630"/>
            <a:ext cx="5196212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Заполнение</a:t>
            </a:r>
            <a:r>
              <a:rPr lang="ru-RU" dirty="0"/>
              <a:t> </a:t>
            </a:r>
            <a:r>
              <a:rPr lang="ru-RU" dirty="0">
                <a:solidFill>
                  <a:srgbClr val="FF0000"/>
                </a:solidFill>
              </a:rPr>
              <a:t>пустых полей средним значением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1" name="Рукописный ввод 20">
                <a:extLst>
                  <a:ext uri="{FF2B5EF4-FFF2-40B4-BE49-F238E27FC236}">
                    <a16:creationId xmlns:a16="http://schemas.microsoft.com/office/drawing/2014/main" id="{21ADAB8C-5821-EFE4-97CD-06BE1BF53BFF}"/>
                  </a:ext>
                </a:extLst>
              </p14:cNvPr>
              <p14:cNvContentPartPr/>
              <p14:nvPr/>
            </p14:nvContentPartPr>
            <p14:xfrm>
              <a:off x="10407041" y="5991616"/>
              <a:ext cx="10438" cy="10438"/>
            </p14:xfrm>
          </p:contentPart>
        </mc:Choice>
        <mc:Fallback>
          <p:pic>
            <p:nvPicPr>
              <p:cNvPr id="21" name="Рукописный ввод 20">
                <a:extLst>
                  <a:ext uri="{FF2B5EF4-FFF2-40B4-BE49-F238E27FC236}">
                    <a16:creationId xmlns:a16="http://schemas.microsoft.com/office/drawing/2014/main" id="{21ADAB8C-5821-EFE4-97CD-06BE1BF53B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885141" y="5480154"/>
                <a:ext cx="1043800" cy="10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358DB91E-8C9A-C6AA-1674-F765567D7300}"/>
                  </a:ext>
                </a:extLst>
              </p14:cNvPr>
              <p14:cNvContentPartPr/>
              <p14:nvPr/>
            </p14:nvContentPartPr>
            <p14:xfrm>
              <a:off x="9461169" y="5761972"/>
              <a:ext cx="601406" cy="382883"/>
            </p14:xfrm>
          </p:contentPart>
        </mc:Choice>
        <mc:Fallback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358DB91E-8C9A-C6AA-1674-F765567D730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43544" y="5744356"/>
                <a:ext cx="637016" cy="4184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Рукописный ввод 25">
                <a:extLst>
                  <a:ext uri="{FF2B5EF4-FFF2-40B4-BE49-F238E27FC236}">
                    <a16:creationId xmlns:a16="http://schemas.microsoft.com/office/drawing/2014/main" id="{7571D1B2-6C96-34C0-62D3-662182861FAE}"/>
                  </a:ext>
                </a:extLst>
              </p14:cNvPr>
              <p14:cNvContentPartPr/>
              <p14:nvPr/>
            </p14:nvContentPartPr>
            <p14:xfrm>
              <a:off x="-2004164" y="2192054"/>
              <a:ext cx="10438" cy="10438"/>
            </p14:xfrm>
          </p:contentPart>
        </mc:Choice>
        <mc:Fallback>
          <p:pic>
            <p:nvPicPr>
              <p:cNvPr id="26" name="Рукописный ввод 25">
                <a:extLst>
                  <a:ext uri="{FF2B5EF4-FFF2-40B4-BE49-F238E27FC236}">
                    <a16:creationId xmlns:a16="http://schemas.microsoft.com/office/drawing/2014/main" id="{7571D1B2-6C96-34C0-62D3-662182861FA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2526064" y="1670154"/>
                <a:ext cx="1043800" cy="104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2241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77817-C5C3-558D-5574-AC013381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568" y="1371600"/>
            <a:ext cx="5732441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100"/>
              <a:t>Представление многомерных данных в читаемом формате</a:t>
            </a:r>
          </a:p>
        </p:txBody>
      </p: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6AC5DFA-8CA4-6A78-CD20-69FEFE899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261" y="643465"/>
            <a:ext cx="3393565" cy="2663948"/>
          </a:xfrm>
          <a:prstGeom prst="rect">
            <a:avLst/>
          </a:prstGeom>
        </p:spPr>
      </p:pic>
      <p:cxnSp>
        <p:nvCxnSpPr>
          <p:cNvPr id="30" name="Straight Connector 11">
            <a:extLst>
              <a:ext uri="{FF2B5EF4-FFF2-40B4-BE49-F238E27FC236}">
                <a16:creationId xmlns:a16="http://schemas.microsoft.com/office/drawing/2014/main" id="{88D00D77-D299-4699-8F8E-BD436FF71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86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EB8A4E-2E8B-CEA9-7A65-F673CD1FA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39" y="3633965"/>
            <a:ext cx="3404410" cy="266395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93BE3AF-E3E1-9275-A435-F3A0F75F4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6795" y="2115344"/>
            <a:ext cx="5684214" cy="18387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sz="1600" dirty="0"/>
              <a:t>Алгоритмы понижения размерности: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ru-RU" sz="1600" dirty="0"/>
              <a:t>Нелинейные (MDS)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ru-RU" sz="1600" dirty="0"/>
              <a:t>Линейные (PCA)</a:t>
            </a:r>
          </a:p>
          <a:p>
            <a:pPr marL="264795" lvl="1" indent="0">
              <a:buNone/>
            </a:pPr>
            <a:endParaRPr lang="ru-RU" dirty="0"/>
          </a:p>
          <a:p>
            <a:pPr marL="264795" lvl="1" indent="0">
              <a:buNone/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72B2C-A9FB-069D-8D63-D90449D036D2}"/>
              </a:ext>
            </a:extLst>
          </p:cNvPr>
          <p:cNvSpPr txBox="1"/>
          <p:nvPr/>
        </p:nvSpPr>
        <p:spPr>
          <a:xfrm>
            <a:off x="5843497" y="3792558"/>
            <a:ext cx="3862085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Для решаемой задачи больше подходит MDS</a:t>
            </a:r>
          </a:p>
          <a:p>
            <a:pPr marL="285750" indent="-285750">
              <a:buFont typeface="Arial"/>
              <a:buChar char="•"/>
            </a:pPr>
            <a:endParaRPr lang="ru-RU" sz="1600" dirty="0"/>
          </a:p>
          <a:p>
            <a:pPr marL="285750" indent="-285750">
              <a:buFont typeface="Arial"/>
              <a:buChar char="•"/>
            </a:pPr>
            <a:r>
              <a:rPr lang="ru-RU" sz="1600" dirty="0"/>
              <a:t>Перед обучением алгоритма данные нормализовались (</a:t>
            </a:r>
            <a:r>
              <a:rPr lang="ru-RU" sz="1600" err="1"/>
              <a:t>MinMaxScale</a:t>
            </a:r>
            <a:r>
              <a:rPr lang="ru-RU" sz="1600" dirty="0"/>
              <a:t>)</a:t>
            </a:r>
          </a:p>
          <a:p>
            <a:pPr marL="285750" indent="-285750">
              <a:buFont typeface="Arial"/>
              <a:buChar char="•"/>
            </a:pPr>
            <a:endParaRPr lang="ru-RU" sz="1600" dirty="0"/>
          </a:p>
          <a:p>
            <a:pPr marL="285750" indent="-285750">
              <a:buFont typeface="Arial"/>
              <a:buChar char="•"/>
            </a:pPr>
            <a:r>
              <a:rPr lang="ru-RU" sz="1600" dirty="0"/>
              <a:t>MDS - сэмпл из 10000 строк, PCA - вся выборка</a:t>
            </a:r>
          </a:p>
        </p:txBody>
      </p:sp>
    </p:spTree>
    <p:extLst>
      <p:ext uri="{BB962C8B-B14F-4D97-AF65-F5344CB8AC3E}">
        <p14:creationId xmlns:p14="http://schemas.microsoft.com/office/powerpoint/2010/main" val="117760879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13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DashVTI</vt:lpstr>
      <vt:lpstr>Catch The Spies</vt:lpstr>
      <vt:lpstr>Объединение баз данных (после этапа парсинга)</vt:lpstr>
      <vt:lpstr>Обработка сырых данных</vt:lpstr>
      <vt:lpstr>Объединение множественных записей (дубликатов)</vt:lpstr>
      <vt:lpstr>Результат слива</vt:lpstr>
      <vt:lpstr>Анализ и построение гипотез выявления подозрительных пассажиров</vt:lpstr>
      <vt:lpstr>Скользкий Джимми</vt:lpstr>
      <vt:lpstr>2. Старикам тут не место (и малолеткам тоже)</vt:lpstr>
      <vt:lpstr>3. *Невнятное пьяное бормотание об антикапе и социализме*  </vt:lpstr>
      <vt:lpstr>Презентация PowerPoint</vt:lpstr>
      <vt:lpstr>5. Папа вышел за хлебом</vt:lpstr>
      <vt:lpstr>Извлечённые признаки</vt:lpstr>
      <vt:lpstr>Представление многомерных данных в читаемом формате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343</cp:revision>
  <dcterms:created xsi:type="dcterms:W3CDTF">2025-10-27T21:53:11Z</dcterms:created>
  <dcterms:modified xsi:type="dcterms:W3CDTF">2025-10-28T00:21:56Z</dcterms:modified>
</cp:coreProperties>
</file>